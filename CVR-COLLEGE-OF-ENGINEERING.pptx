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Gelasio Semi Bold"/>
      <p:regular r:id="rId17"/>
    </p:embeddedFont>
    <p:embeddedFont>
      <p:font typeface="Gelasio Semi Bold"/>
      <p:regular r:id="rId18"/>
    </p:embeddedFont>
    <p:embeddedFont>
      <p:font typeface="Gelasio Semi Bold"/>
      <p:regular r:id="rId19"/>
    </p:embeddedFont>
    <p:embeddedFont>
      <p:font typeface="Gelasio Semi Bold"/>
      <p:regular r:id="rId20"/>
    </p:embeddedFont>
    <p:embeddedFont>
      <p:font typeface="Gelasio"/>
      <p:regular r:id="rId21"/>
    </p:embeddedFont>
    <p:embeddedFont>
      <p:font typeface="Gelasio"/>
      <p:regular r:id="rId22"/>
    </p:embeddedFont>
    <p:embeddedFont>
      <p:font typeface="Gelasio"/>
      <p:regular r:id="rId23"/>
    </p:embeddedFont>
    <p:embeddedFont>
      <p:font typeface="Gelasi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2F2F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a:ln/>
        </p:spPr>
      </p:sp>
      <p:sp>
        <p:nvSpPr>
          <p:cNvPr id="3" name="Shape 1"/>
          <p:cNvSpPr/>
          <p:nvPr/>
        </p:nvSpPr>
        <p:spPr>
          <a:xfrm>
            <a:off x="0" y="0"/>
            <a:ext cx="14630400" cy="82296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30436" y="2303859"/>
            <a:ext cx="5211723" cy="3621881"/>
          </a:xfrm>
          <a:prstGeom prst="roundRect">
            <a:avLst>
              <a:gd name="adj" fmla="val 939"/>
            </a:avLst>
          </a:prstGeom>
          <a:solidFill>
            <a:srgbClr val="F2F2F2"/>
          </a:solidFill>
          <a:ln/>
        </p:spPr>
      </p:sp>
      <p:pic>
        <p:nvPicPr>
          <p:cNvPr id="3" name="Image 0" descr="preencoded.png">    </p:cNvPr>
          <p:cNvPicPr>
            <a:picLocks noChangeAspect="1"/>
          </p:cNvPicPr>
          <p:nvPr/>
        </p:nvPicPr>
        <p:blipFill>
          <a:blip r:embed="rId1"/>
          <a:stretch>
            <a:fillRect/>
          </a:stretch>
        </p:blipFill>
        <p:spPr>
          <a:xfrm>
            <a:off x="857250" y="2559010"/>
            <a:ext cx="3331488" cy="3111579"/>
          </a:xfrm>
          <a:prstGeom prst="rect">
            <a:avLst/>
          </a:prstGeom>
        </p:spPr>
      </p:pic>
      <p:sp>
        <p:nvSpPr>
          <p:cNvPr id="4" name="Text 1"/>
          <p:cNvSpPr/>
          <p:nvPr/>
        </p:nvSpPr>
        <p:spPr>
          <a:xfrm>
            <a:off x="6239828" y="2530673"/>
            <a:ext cx="7604284" cy="1133951"/>
          </a:xfrm>
          <a:prstGeom prst="rect">
            <a:avLst/>
          </a:prstGeom>
          <a:noFill/>
          <a:ln/>
        </p:spPr>
        <p:txBody>
          <a:bodyPr wrap="square" lIns="0" tIns="0" rIns="0" bIns="0" rtlCol="0" anchor="t"/>
          <a:lstStyle/>
          <a:p>
            <a:pPr algn="l" indent="0" marL="0">
              <a:lnSpc>
                <a:spcPts val="4450"/>
              </a:lnSpc>
              <a:buNone/>
            </a:pPr>
            <a:r>
              <a:rPr lang="en-US" sz="3550" dirty="0">
                <a:solidFill>
                  <a:srgbClr val="484237"/>
                </a:solidFill>
                <a:latin typeface="Gelasio Semi Bold" pitchFamily="34" charset="0"/>
                <a:ea typeface="Gelasio Semi Bold" pitchFamily="34" charset="-122"/>
                <a:cs typeface="Gelasio Semi Bold" pitchFamily="34" charset="-120"/>
              </a:rPr>
              <a:t>CVR COLLEGE OF ENGINEERING</a:t>
            </a:r>
            <a:endParaRPr lang="en-US" sz="3550" dirty="0"/>
          </a:p>
        </p:txBody>
      </p:sp>
      <p:sp>
        <p:nvSpPr>
          <p:cNvPr id="5" name="Text 2"/>
          <p:cNvSpPr/>
          <p:nvPr/>
        </p:nvSpPr>
        <p:spPr>
          <a:xfrm>
            <a:off x="6239828" y="3755350"/>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484237"/>
                </a:solidFill>
                <a:latin typeface="Gelasio Semi Bold" pitchFamily="34" charset="0"/>
                <a:ea typeface="Gelasio Semi Bold" pitchFamily="34" charset="-122"/>
                <a:cs typeface="Gelasio Semi Bold" pitchFamily="34" charset="-120"/>
              </a:rPr>
              <a:t>Department of CSE</a:t>
            </a:r>
            <a:endParaRPr lang="en-US" sz="3550" dirty="0"/>
          </a:p>
        </p:txBody>
      </p:sp>
      <p:sp>
        <p:nvSpPr>
          <p:cNvPr id="6" name="Text 3"/>
          <p:cNvSpPr/>
          <p:nvPr/>
        </p:nvSpPr>
        <p:spPr>
          <a:xfrm>
            <a:off x="6239828" y="4413052"/>
            <a:ext cx="7216616" cy="566976"/>
          </a:xfrm>
          <a:prstGeom prst="rect">
            <a:avLst/>
          </a:prstGeom>
          <a:noFill/>
          <a:ln/>
        </p:spPr>
        <p:txBody>
          <a:bodyPr wrap="none" lIns="0" tIns="0" rIns="0" bIns="0" rtlCol="0" anchor="t"/>
          <a:lstStyle/>
          <a:p>
            <a:pPr algn="l" indent="0" marL="0">
              <a:lnSpc>
                <a:spcPts val="4450"/>
              </a:lnSpc>
              <a:buNone/>
            </a:pPr>
            <a:r>
              <a:rPr lang="en-US" sz="3550" dirty="0">
                <a:solidFill>
                  <a:srgbClr val="484237"/>
                </a:solidFill>
                <a:latin typeface="Gelasio Semi Bold" pitchFamily="34" charset="0"/>
                <a:ea typeface="Gelasio Semi Bold" pitchFamily="34" charset="-122"/>
                <a:cs typeface="Gelasio Semi Bold" pitchFamily="34" charset="-120"/>
              </a:rPr>
              <a:t>B.Tech CSBS II Year II Semester</a:t>
            </a:r>
            <a:endParaRPr lang="en-US" sz="3550" dirty="0"/>
          </a:p>
        </p:txBody>
      </p:sp>
      <p:sp>
        <p:nvSpPr>
          <p:cNvPr id="7" name="Text 4"/>
          <p:cNvSpPr/>
          <p:nvPr/>
        </p:nvSpPr>
        <p:spPr>
          <a:xfrm>
            <a:off x="6239828" y="5070753"/>
            <a:ext cx="7113865" cy="566976"/>
          </a:xfrm>
          <a:prstGeom prst="rect">
            <a:avLst/>
          </a:prstGeom>
          <a:noFill/>
          <a:ln/>
        </p:spPr>
        <p:txBody>
          <a:bodyPr wrap="none" lIns="0" tIns="0" rIns="0" bIns="0" rtlCol="0" anchor="t"/>
          <a:lstStyle/>
          <a:p>
            <a:pPr algn="l" indent="0" marL="0">
              <a:lnSpc>
                <a:spcPts val="4450"/>
              </a:lnSpc>
              <a:buNone/>
            </a:pPr>
            <a:r>
              <a:rPr lang="en-US" sz="3550" dirty="0">
                <a:solidFill>
                  <a:srgbClr val="484237"/>
                </a:solidFill>
                <a:latin typeface="Gelasio Semi Bold" pitchFamily="34" charset="0"/>
                <a:ea typeface="Gelasio Semi Bold" pitchFamily="34" charset="-122"/>
                <a:cs typeface="Gelasio Semi Bold" pitchFamily="34" charset="-120"/>
              </a:rPr>
              <a:t>RFI Project Review-1, Feb. 2025</a:t>
            </a:r>
            <a:endParaRPr lang="en-US" sz="3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680216"/>
            <a:ext cx="11628358" cy="566976"/>
          </a:xfrm>
          <a:prstGeom prst="rect">
            <a:avLst/>
          </a:prstGeom>
          <a:noFill/>
          <a:ln/>
        </p:spPr>
        <p:txBody>
          <a:bodyPr wrap="none" lIns="0" tIns="0" rIns="0" bIns="0" rtlCol="0" anchor="t"/>
          <a:lstStyle/>
          <a:p>
            <a:pPr algn="l" indent="0" marL="0">
              <a:lnSpc>
                <a:spcPts val="4450"/>
              </a:lnSpc>
              <a:buNone/>
            </a:pPr>
            <a:r>
              <a:rPr lang="en-US" sz="3550" dirty="0">
                <a:solidFill>
                  <a:srgbClr val="484237"/>
                </a:solidFill>
                <a:latin typeface="Gelasio Semi Bold" pitchFamily="34" charset="0"/>
                <a:ea typeface="Gelasio Semi Bold" pitchFamily="34" charset="-122"/>
                <a:cs typeface="Gelasio Semi Bold" pitchFamily="34" charset="-120"/>
              </a:rPr>
              <a:t>Project Title:- Table Turnover (Restaurants &amp; Cafes)</a:t>
            </a:r>
            <a:endParaRPr lang="en-US" sz="3550" dirty="0"/>
          </a:p>
        </p:txBody>
      </p:sp>
      <p:sp>
        <p:nvSpPr>
          <p:cNvPr id="3" name="Text 1"/>
          <p:cNvSpPr/>
          <p:nvPr/>
        </p:nvSpPr>
        <p:spPr>
          <a:xfrm>
            <a:off x="793790" y="3791426"/>
            <a:ext cx="6244709" cy="12472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24B81A3242 - B Rithesh</a:t>
            </a:r>
            <a:endParaRPr lang="en-US" sz="1750" dirty="0"/>
          </a:p>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24B81A3249– L Sidharth</a:t>
            </a:r>
            <a:endParaRPr lang="en-US" sz="1750" dirty="0"/>
          </a:p>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24B81A3259 – P Venkat Manas</a:t>
            </a:r>
            <a:endParaRPr lang="en-US" sz="1750" dirty="0"/>
          </a:p>
        </p:txBody>
      </p:sp>
      <p:sp>
        <p:nvSpPr>
          <p:cNvPr id="4" name="Text 2"/>
          <p:cNvSpPr/>
          <p:nvPr/>
        </p:nvSpPr>
        <p:spPr>
          <a:xfrm>
            <a:off x="7599521" y="3791426"/>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Under the guidance of</a:t>
            </a:r>
            <a:endParaRPr lang="en-US" sz="1750" dirty="0"/>
          </a:p>
        </p:txBody>
      </p:sp>
      <p:sp>
        <p:nvSpPr>
          <p:cNvPr id="5" name="Text 3"/>
          <p:cNvSpPr/>
          <p:nvPr/>
        </p:nvSpPr>
        <p:spPr>
          <a:xfrm>
            <a:off x="7599521" y="4381143"/>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484237"/>
                </a:solidFill>
                <a:latin typeface="Gelasio Semi Bold" pitchFamily="34" charset="0"/>
                <a:ea typeface="Gelasio Semi Bold" pitchFamily="34" charset="-122"/>
                <a:cs typeface="Gelasio Semi Bold" pitchFamily="34" charset="-120"/>
              </a:rPr>
              <a:t>Dr Prasad</a:t>
            </a:r>
            <a:endParaRPr lang="en-US" sz="2650" dirty="0"/>
          </a:p>
        </p:txBody>
      </p:sp>
      <p:sp>
        <p:nvSpPr>
          <p:cNvPr id="6" name="Text 4"/>
          <p:cNvSpPr/>
          <p:nvPr/>
        </p:nvSpPr>
        <p:spPr>
          <a:xfrm>
            <a:off x="7599521" y="4897160"/>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484237"/>
                </a:solidFill>
                <a:latin typeface="Gelasio Semi Bold" pitchFamily="34" charset="0"/>
                <a:ea typeface="Gelasio Semi Bold" pitchFamily="34" charset="-122"/>
                <a:cs typeface="Gelasio Semi Bold" pitchFamily="34" charset="-120"/>
              </a:rPr>
              <a:t>Associate Professor</a:t>
            </a:r>
            <a:endParaRPr lang="en-US" sz="2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87229"/>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Introduction</a:t>
            </a:r>
            <a:endParaRPr lang="en-US" sz="4450" dirty="0"/>
          </a:p>
        </p:txBody>
      </p:sp>
      <p:sp>
        <p:nvSpPr>
          <p:cNvPr id="3" name="Text 1"/>
          <p:cNvSpPr/>
          <p:nvPr/>
        </p:nvSpPr>
        <p:spPr>
          <a:xfrm>
            <a:off x="793790" y="1849636"/>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The restaurant and café industry is highly competitive today. For any restaurant to succeed, customer satisfaction and smooth operations are very important.</a:t>
            </a:r>
            <a:endParaRPr lang="en-US" sz="1750" dirty="0"/>
          </a:p>
        </p:txBody>
      </p:sp>
      <p:sp>
        <p:nvSpPr>
          <p:cNvPr id="4" name="Text 2"/>
          <p:cNvSpPr/>
          <p:nvPr/>
        </p:nvSpPr>
        <p:spPr>
          <a:xfrm>
            <a:off x="793790" y="283059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One of the biggest challenges restaurants face is managing table turnover. Table turnover means how effectively tables are assigned to customers, used during dining, cleaned after use, and then made ready for the next customers.</a:t>
            </a:r>
            <a:endParaRPr lang="en-US" sz="1750" dirty="0"/>
          </a:p>
        </p:txBody>
      </p:sp>
      <p:sp>
        <p:nvSpPr>
          <p:cNvPr id="5" name="Text 3"/>
          <p:cNvSpPr/>
          <p:nvPr/>
        </p:nvSpPr>
        <p:spPr>
          <a:xfrm>
            <a:off x="793790" y="381154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If table management is not handled properly, it can create several problems such as:</a:t>
            </a:r>
            <a:endParaRPr lang="en-US" sz="1750" dirty="0"/>
          </a:p>
        </p:txBody>
      </p:sp>
      <p:sp>
        <p:nvSpPr>
          <p:cNvPr id="6" name="Text 4"/>
          <p:cNvSpPr/>
          <p:nvPr/>
        </p:nvSpPr>
        <p:spPr>
          <a:xfrm>
            <a:off x="793790" y="4429601"/>
            <a:ext cx="13042821" cy="213169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Increased waiting time for customers</a:t>
            </a:r>
            <a:endParaRPr lang="en-US" sz="1750" dirty="0"/>
          </a:p>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Tables remaining unused even during busy hours</a:t>
            </a:r>
            <a:endParaRPr lang="en-US" sz="1750" dirty="0"/>
          </a:p>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Loss of potential revenue</a:t>
            </a:r>
            <a:endParaRPr lang="en-US" sz="1750" dirty="0"/>
          </a:p>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Reduced customer satisfaction</a:t>
            </a:r>
            <a:endParaRPr lang="en-US" sz="1750" dirty="0"/>
          </a:p>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Poor coordination among staff</a:t>
            </a:r>
            <a:endParaRPr lang="en-US" sz="1750" dirty="0"/>
          </a:p>
        </p:txBody>
      </p:sp>
      <p:sp>
        <p:nvSpPr>
          <p:cNvPr id="7" name="Text 5"/>
          <p:cNvSpPr/>
          <p:nvPr/>
        </p:nvSpPr>
        <p:spPr>
          <a:xfrm>
            <a:off x="793790" y="6816447"/>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Many small and medium-sized restaurants still manage their tables manually, without using any proper system. This manual approach often leads to mistakes, delays, and overall inefficiency in operations.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21741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Problem definition</a:t>
            </a:r>
            <a:endParaRPr lang="en-US" sz="4450" dirty="0"/>
          </a:p>
        </p:txBody>
      </p:sp>
      <p:sp>
        <p:nvSpPr>
          <p:cNvPr id="3" name="Text 1"/>
          <p:cNvSpPr/>
          <p:nvPr/>
        </p:nvSpPr>
        <p:spPr>
          <a:xfrm>
            <a:off x="793790" y="2379821"/>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Many restaurants and cafés face problems in using their tables efficiently because they do not have a proper system to track table usage. They often lack a structured way to monitor whether a table is occupied, how many seats it has, whether it needs cleaning, or if the payment process is completed.</a:t>
            </a:r>
            <a:endParaRPr lang="en-US" sz="1750" dirty="0"/>
          </a:p>
        </p:txBody>
      </p:sp>
      <p:sp>
        <p:nvSpPr>
          <p:cNvPr id="4" name="Text 2"/>
          <p:cNvSpPr/>
          <p:nvPr/>
        </p:nvSpPr>
        <p:spPr>
          <a:xfrm>
            <a:off x="793790" y="3723680"/>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Because of this, several issues arise such as:</a:t>
            </a:r>
            <a:endParaRPr lang="en-US" sz="1750" dirty="0"/>
          </a:p>
        </p:txBody>
      </p:sp>
      <p:sp>
        <p:nvSpPr>
          <p:cNvPr id="5" name="Text 3"/>
          <p:cNvSpPr/>
          <p:nvPr/>
        </p:nvSpPr>
        <p:spPr>
          <a:xfrm>
            <a:off x="793790" y="4341733"/>
            <a:ext cx="13042821" cy="168949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Tables not being used effectively</a:t>
            </a:r>
            <a:endParaRPr lang="en-US" sz="1750" dirty="0"/>
          </a:p>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Too much crowd during peak hours</a:t>
            </a:r>
            <a:endParaRPr lang="en-US" sz="1750" dirty="0"/>
          </a:p>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Delays in serving customers who are waiting</a:t>
            </a:r>
            <a:endParaRPr lang="en-US" sz="1750" dirty="0"/>
          </a:p>
          <a:p>
            <a:pPr algn="l" marL="342900" indent="-342900">
              <a:lnSpc>
                <a:spcPts val="2850"/>
              </a:lnSpc>
              <a:buSzPct val="100000"/>
              <a:buChar char="•"/>
            </a:pPr>
            <a:r>
              <a:rPr lang="en-US" sz="1750" dirty="0">
                <a:solidFill>
                  <a:srgbClr val="746558"/>
                </a:solidFill>
                <a:latin typeface="Gelasio" pitchFamily="34" charset="0"/>
                <a:ea typeface="Gelasio" pitchFamily="34" charset="-122"/>
                <a:cs typeface="Gelasio" pitchFamily="34" charset="-120"/>
              </a:rPr>
              <a:t>No real-time information to help managers make quick decisions</a:t>
            </a:r>
            <a:endParaRPr lang="en-US" sz="1750" dirty="0"/>
          </a:p>
        </p:txBody>
      </p:sp>
      <p:sp>
        <p:nvSpPr>
          <p:cNvPr id="6" name="Text 4"/>
          <p:cNvSpPr/>
          <p:nvPr/>
        </p:nvSpPr>
        <p:spPr>
          <a:xfrm>
            <a:off x="793790" y="6286381"/>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Therefore, there is a strong need for a smart and organized system that can manage tables dynamically and improve overall table turnover efficiency.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24401"/>
            <a:ext cx="8959453" cy="602456"/>
          </a:xfrm>
          <a:prstGeom prst="rect">
            <a:avLst/>
          </a:prstGeom>
          <a:noFill/>
          <a:ln/>
        </p:spPr>
        <p:txBody>
          <a:bodyPr wrap="none" lIns="0" tIns="0" rIns="0" bIns="0" rtlCol="0" anchor="t"/>
          <a:lstStyle/>
          <a:p>
            <a:pPr algn="l" indent="0" marL="0">
              <a:lnSpc>
                <a:spcPts val="4700"/>
              </a:lnSpc>
              <a:buNone/>
            </a:pPr>
            <a:r>
              <a:rPr lang="en-US" sz="3750" dirty="0">
                <a:solidFill>
                  <a:srgbClr val="484237"/>
                </a:solidFill>
                <a:latin typeface="Gelasio Semi Bold" pitchFamily="34" charset="0"/>
                <a:ea typeface="Gelasio Semi Bold" pitchFamily="34" charset="-122"/>
                <a:cs typeface="Gelasio Semi Bold" pitchFamily="34" charset="-120"/>
              </a:rPr>
              <a:t>Existing work/method and challenges</a:t>
            </a:r>
            <a:endParaRPr lang="en-US" sz="3750" dirty="0"/>
          </a:p>
        </p:txBody>
      </p:sp>
      <p:sp>
        <p:nvSpPr>
          <p:cNvPr id="3" name="Text 1"/>
          <p:cNvSpPr/>
          <p:nvPr/>
        </p:nvSpPr>
        <p:spPr>
          <a:xfrm>
            <a:off x="793790" y="1854518"/>
            <a:ext cx="13042821" cy="285274"/>
          </a:xfrm>
          <a:prstGeom prst="rect">
            <a:avLst/>
          </a:prstGeom>
          <a:noFill/>
          <a:ln/>
        </p:spPr>
        <p:txBody>
          <a:bodyPr wrap="none" lIns="0" tIns="0" rIns="0" bIns="0" rtlCol="0" anchor="t"/>
          <a:lstStyle/>
          <a:p>
            <a:pPr algn="l" indent="0" marL="0">
              <a:lnSpc>
                <a:spcPts val="2200"/>
              </a:lnSpc>
              <a:buNone/>
            </a:pPr>
            <a:r>
              <a:rPr lang="en-US" sz="1500" b="1" dirty="0">
                <a:solidFill>
                  <a:srgbClr val="746558"/>
                </a:solidFill>
                <a:latin typeface="Gelasio" pitchFamily="34" charset="0"/>
                <a:ea typeface="Gelasio" pitchFamily="34" charset="-122"/>
                <a:cs typeface="Gelasio" pitchFamily="34" charset="-120"/>
              </a:rPr>
              <a:t>Existing Work / Current Methods</a:t>
            </a:r>
            <a:endParaRPr lang="en-US" sz="1500" dirty="0"/>
          </a:p>
        </p:txBody>
      </p:sp>
      <p:sp>
        <p:nvSpPr>
          <p:cNvPr id="4" name="Text 2"/>
          <p:cNvSpPr/>
          <p:nvPr/>
        </p:nvSpPr>
        <p:spPr>
          <a:xfrm>
            <a:off x="793790" y="2324100"/>
            <a:ext cx="13042821" cy="285274"/>
          </a:xfrm>
          <a:prstGeom prst="rect">
            <a:avLst/>
          </a:prstGeom>
          <a:noFill/>
          <a:ln/>
        </p:spPr>
        <p:txBody>
          <a:bodyPr wrap="none" lIns="0" tIns="0" rIns="0" bIns="0" rtlCol="0" anchor="t"/>
          <a:lstStyle/>
          <a:p>
            <a:pPr algn="l" indent="0" marL="0">
              <a:lnSpc>
                <a:spcPts val="2200"/>
              </a:lnSpc>
              <a:buNone/>
            </a:pPr>
            <a:r>
              <a:rPr lang="en-US" sz="1500" dirty="0">
                <a:solidFill>
                  <a:srgbClr val="746558"/>
                </a:solidFill>
                <a:latin typeface="Gelasio" pitchFamily="34" charset="0"/>
                <a:ea typeface="Gelasio" pitchFamily="34" charset="-122"/>
                <a:cs typeface="Gelasio" pitchFamily="34" charset="-120"/>
              </a:rPr>
              <a:t>In many small and medium-sized restaurants, table management is handled using traditional or semi-manual methods instead of automated systems.</a:t>
            </a:r>
            <a:endParaRPr lang="en-US" sz="1500" dirty="0"/>
          </a:p>
        </p:txBody>
      </p:sp>
      <p:sp>
        <p:nvSpPr>
          <p:cNvPr id="5" name="Text 3"/>
          <p:cNvSpPr/>
          <p:nvPr/>
        </p:nvSpPr>
        <p:spPr>
          <a:xfrm>
            <a:off x="793790" y="2793683"/>
            <a:ext cx="13042821" cy="285274"/>
          </a:xfrm>
          <a:prstGeom prst="rect">
            <a:avLst/>
          </a:prstGeom>
          <a:noFill/>
          <a:ln/>
        </p:spPr>
        <p:txBody>
          <a:bodyPr wrap="none" lIns="0" tIns="0" rIns="0" bIns="0" rtlCol="0" anchor="t"/>
          <a:lstStyle/>
          <a:p>
            <a:pPr algn="l" indent="0" marL="0">
              <a:lnSpc>
                <a:spcPts val="2200"/>
              </a:lnSpc>
              <a:buNone/>
            </a:pPr>
            <a:r>
              <a:rPr lang="en-US" sz="1500" dirty="0">
                <a:solidFill>
                  <a:srgbClr val="746558"/>
                </a:solidFill>
                <a:latin typeface="Gelasio" pitchFamily="34" charset="0"/>
                <a:ea typeface="Gelasio" pitchFamily="34" charset="-122"/>
                <a:cs typeface="Gelasio" pitchFamily="34" charset="-120"/>
              </a:rPr>
              <a:t>Restaurants often rely on direct communication between staff members to update table status such as occupied or available.</a:t>
            </a:r>
            <a:endParaRPr lang="en-US" sz="1500" dirty="0"/>
          </a:p>
        </p:txBody>
      </p:sp>
      <p:sp>
        <p:nvSpPr>
          <p:cNvPr id="6" name="Text 4"/>
          <p:cNvSpPr/>
          <p:nvPr/>
        </p:nvSpPr>
        <p:spPr>
          <a:xfrm>
            <a:off x="793790" y="3263265"/>
            <a:ext cx="13042821" cy="285274"/>
          </a:xfrm>
          <a:prstGeom prst="rect">
            <a:avLst/>
          </a:prstGeom>
          <a:noFill/>
          <a:ln/>
        </p:spPr>
        <p:txBody>
          <a:bodyPr wrap="none" lIns="0" tIns="0" rIns="0" bIns="0" rtlCol="0" anchor="t"/>
          <a:lstStyle/>
          <a:p>
            <a:pPr algn="l" indent="0" marL="0">
              <a:lnSpc>
                <a:spcPts val="2200"/>
              </a:lnSpc>
              <a:buNone/>
            </a:pPr>
            <a:r>
              <a:rPr lang="en-US" sz="1500" dirty="0">
                <a:solidFill>
                  <a:srgbClr val="746558"/>
                </a:solidFill>
                <a:latin typeface="Gelasio" pitchFamily="34" charset="0"/>
                <a:ea typeface="Gelasio" pitchFamily="34" charset="-122"/>
                <a:cs typeface="Gelasio" pitchFamily="34" charset="-120"/>
              </a:rPr>
              <a:t>Some use paper-based registers, whiteboards, or basic POS systems that only manage billing and do not track real-time table status.</a:t>
            </a:r>
            <a:endParaRPr lang="en-US" sz="1500" dirty="0"/>
          </a:p>
        </p:txBody>
      </p:sp>
      <p:sp>
        <p:nvSpPr>
          <p:cNvPr id="7" name="Text 5"/>
          <p:cNvSpPr/>
          <p:nvPr/>
        </p:nvSpPr>
        <p:spPr>
          <a:xfrm>
            <a:off x="793790" y="3732848"/>
            <a:ext cx="13042821" cy="285274"/>
          </a:xfrm>
          <a:prstGeom prst="rect">
            <a:avLst/>
          </a:prstGeom>
          <a:noFill/>
          <a:ln/>
        </p:spPr>
        <p:txBody>
          <a:bodyPr wrap="none" lIns="0" tIns="0" rIns="0" bIns="0" rtlCol="0" anchor="t"/>
          <a:lstStyle/>
          <a:p>
            <a:pPr algn="l" indent="0" marL="0">
              <a:lnSpc>
                <a:spcPts val="2200"/>
              </a:lnSpc>
              <a:buNone/>
            </a:pPr>
            <a:r>
              <a:rPr lang="en-US" sz="1500" b="1" dirty="0">
                <a:solidFill>
                  <a:srgbClr val="746558"/>
                </a:solidFill>
                <a:latin typeface="Gelasio" pitchFamily="34" charset="0"/>
                <a:ea typeface="Gelasio" pitchFamily="34" charset="-122"/>
                <a:cs typeface="Gelasio" pitchFamily="34" charset="-120"/>
              </a:rPr>
              <a:t>Disadvantages of Existing Methods</a:t>
            </a:r>
            <a:endParaRPr lang="en-US" sz="1500" dirty="0"/>
          </a:p>
        </p:txBody>
      </p:sp>
      <p:sp>
        <p:nvSpPr>
          <p:cNvPr id="8" name="Text 6"/>
          <p:cNvSpPr/>
          <p:nvPr/>
        </p:nvSpPr>
        <p:spPr>
          <a:xfrm>
            <a:off x="793790" y="4202430"/>
            <a:ext cx="13042821" cy="285274"/>
          </a:xfrm>
          <a:prstGeom prst="rect">
            <a:avLst/>
          </a:prstGeom>
          <a:noFill/>
          <a:ln/>
        </p:spPr>
        <p:txBody>
          <a:bodyPr wrap="none" lIns="0" tIns="0" rIns="0" bIns="0" rtlCol="0" anchor="t"/>
          <a:lstStyle/>
          <a:p>
            <a:pPr algn="l" indent="0" marL="0">
              <a:lnSpc>
                <a:spcPts val="2200"/>
              </a:lnSpc>
              <a:buNone/>
            </a:pPr>
            <a:r>
              <a:rPr lang="en-US" sz="1500" dirty="0">
                <a:solidFill>
                  <a:srgbClr val="746558"/>
                </a:solidFill>
                <a:latin typeface="Gelasio" pitchFamily="34" charset="0"/>
                <a:ea typeface="Gelasio" pitchFamily="34" charset="-122"/>
                <a:cs typeface="Gelasio" pitchFamily="34" charset="-120"/>
              </a:rPr>
              <a:t>Manual tracking increases the chances of human error and miscommunication.</a:t>
            </a:r>
            <a:endParaRPr lang="en-US" sz="1500" dirty="0"/>
          </a:p>
        </p:txBody>
      </p:sp>
      <p:sp>
        <p:nvSpPr>
          <p:cNvPr id="9" name="Text 7"/>
          <p:cNvSpPr/>
          <p:nvPr/>
        </p:nvSpPr>
        <p:spPr>
          <a:xfrm>
            <a:off x="793790" y="4672013"/>
            <a:ext cx="13042821" cy="285274"/>
          </a:xfrm>
          <a:prstGeom prst="rect">
            <a:avLst/>
          </a:prstGeom>
          <a:noFill/>
          <a:ln/>
        </p:spPr>
        <p:txBody>
          <a:bodyPr wrap="none" lIns="0" tIns="0" rIns="0" bIns="0" rtlCol="0" anchor="t"/>
          <a:lstStyle/>
          <a:p>
            <a:pPr algn="l" indent="0" marL="0">
              <a:lnSpc>
                <a:spcPts val="2200"/>
              </a:lnSpc>
              <a:buNone/>
            </a:pPr>
            <a:r>
              <a:rPr lang="en-US" sz="1500" dirty="0">
                <a:solidFill>
                  <a:srgbClr val="746558"/>
                </a:solidFill>
                <a:latin typeface="Gelasio" pitchFamily="34" charset="0"/>
                <a:ea typeface="Gelasio" pitchFamily="34" charset="-122"/>
                <a:cs typeface="Gelasio" pitchFamily="34" charset="-120"/>
              </a:rPr>
              <a:t>There is no real-time monitoring of table occupancy, cleaning status, or seating capacity.</a:t>
            </a:r>
            <a:endParaRPr lang="en-US" sz="1500" dirty="0"/>
          </a:p>
        </p:txBody>
      </p:sp>
      <p:sp>
        <p:nvSpPr>
          <p:cNvPr id="10" name="Text 8"/>
          <p:cNvSpPr/>
          <p:nvPr/>
        </p:nvSpPr>
        <p:spPr>
          <a:xfrm>
            <a:off x="793790" y="5141595"/>
            <a:ext cx="13042821" cy="285274"/>
          </a:xfrm>
          <a:prstGeom prst="rect">
            <a:avLst/>
          </a:prstGeom>
          <a:noFill/>
          <a:ln/>
        </p:spPr>
        <p:txBody>
          <a:bodyPr wrap="none" lIns="0" tIns="0" rIns="0" bIns="0" rtlCol="0" anchor="t"/>
          <a:lstStyle/>
          <a:p>
            <a:pPr algn="l" indent="0" marL="0">
              <a:lnSpc>
                <a:spcPts val="2200"/>
              </a:lnSpc>
              <a:buNone/>
            </a:pPr>
            <a:r>
              <a:rPr lang="en-US" sz="1500" dirty="0">
                <a:solidFill>
                  <a:srgbClr val="746558"/>
                </a:solidFill>
                <a:latin typeface="Gelasio" pitchFamily="34" charset="0"/>
                <a:ea typeface="Gelasio" pitchFamily="34" charset="-122"/>
                <a:cs typeface="Gelasio" pitchFamily="34" charset="-120"/>
              </a:rPr>
              <a:t>During peak hours, inefficient coordination leads to longer waiting times and underutilized tables, resulting in revenue loss.</a:t>
            </a:r>
            <a:endParaRPr lang="en-US" sz="1500" dirty="0"/>
          </a:p>
        </p:txBody>
      </p:sp>
      <p:sp>
        <p:nvSpPr>
          <p:cNvPr id="11" name="Text 9"/>
          <p:cNvSpPr/>
          <p:nvPr/>
        </p:nvSpPr>
        <p:spPr>
          <a:xfrm>
            <a:off x="793790" y="5611177"/>
            <a:ext cx="13042821" cy="285274"/>
          </a:xfrm>
          <a:prstGeom prst="rect">
            <a:avLst/>
          </a:prstGeom>
          <a:noFill/>
          <a:ln/>
        </p:spPr>
        <p:txBody>
          <a:bodyPr wrap="none" lIns="0" tIns="0" rIns="0" bIns="0" rtlCol="0" anchor="t"/>
          <a:lstStyle/>
          <a:p>
            <a:pPr algn="l" indent="0" marL="0">
              <a:lnSpc>
                <a:spcPts val="2200"/>
              </a:lnSpc>
              <a:buNone/>
            </a:pPr>
            <a:r>
              <a:rPr lang="en-US" sz="1500" b="1" dirty="0">
                <a:solidFill>
                  <a:srgbClr val="746558"/>
                </a:solidFill>
                <a:latin typeface="Gelasio" pitchFamily="34" charset="0"/>
                <a:ea typeface="Gelasio" pitchFamily="34" charset="-122"/>
                <a:cs typeface="Gelasio" pitchFamily="34" charset="-120"/>
              </a:rPr>
              <a:t>Points to Overcome the Disadvantages (Proposed Solution)</a:t>
            </a:r>
            <a:endParaRPr lang="en-US" sz="1500" dirty="0"/>
          </a:p>
        </p:txBody>
      </p:sp>
      <p:sp>
        <p:nvSpPr>
          <p:cNvPr id="12" name="Text 10"/>
          <p:cNvSpPr/>
          <p:nvPr/>
        </p:nvSpPr>
        <p:spPr>
          <a:xfrm>
            <a:off x="793790" y="6080760"/>
            <a:ext cx="13042821" cy="285274"/>
          </a:xfrm>
          <a:prstGeom prst="rect">
            <a:avLst/>
          </a:prstGeom>
          <a:noFill/>
          <a:ln/>
        </p:spPr>
        <p:txBody>
          <a:bodyPr wrap="none" lIns="0" tIns="0" rIns="0" bIns="0" rtlCol="0" anchor="t"/>
          <a:lstStyle/>
          <a:p>
            <a:pPr algn="l" indent="0" marL="0">
              <a:lnSpc>
                <a:spcPts val="2200"/>
              </a:lnSpc>
              <a:buNone/>
            </a:pPr>
            <a:r>
              <a:rPr lang="en-US" sz="1500" dirty="0">
                <a:solidFill>
                  <a:srgbClr val="746558"/>
                </a:solidFill>
                <a:latin typeface="Gelasio" pitchFamily="34" charset="0"/>
                <a:ea typeface="Gelasio" pitchFamily="34" charset="-122"/>
                <a:cs typeface="Gelasio" pitchFamily="34" charset="-120"/>
              </a:rPr>
              <a:t>Implement a smart system that tracks table status dynamically (Occupied, Cleaning, Ready, Available).</a:t>
            </a:r>
            <a:endParaRPr lang="en-US" sz="1500" dirty="0"/>
          </a:p>
        </p:txBody>
      </p:sp>
      <p:sp>
        <p:nvSpPr>
          <p:cNvPr id="13" name="Text 11"/>
          <p:cNvSpPr/>
          <p:nvPr/>
        </p:nvSpPr>
        <p:spPr>
          <a:xfrm>
            <a:off x="793790" y="6550342"/>
            <a:ext cx="13042821" cy="285274"/>
          </a:xfrm>
          <a:prstGeom prst="rect">
            <a:avLst/>
          </a:prstGeom>
          <a:noFill/>
          <a:ln/>
        </p:spPr>
        <p:txBody>
          <a:bodyPr wrap="none" lIns="0" tIns="0" rIns="0" bIns="0" rtlCol="0" anchor="t"/>
          <a:lstStyle/>
          <a:p>
            <a:pPr algn="l" indent="0" marL="0">
              <a:lnSpc>
                <a:spcPts val="2200"/>
              </a:lnSpc>
              <a:buNone/>
            </a:pPr>
            <a:r>
              <a:rPr lang="en-US" sz="1500" dirty="0">
                <a:solidFill>
                  <a:srgbClr val="746558"/>
                </a:solidFill>
                <a:latin typeface="Gelasio" pitchFamily="34" charset="0"/>
                <a:ea typeface="Gelasio" pitchFamily="34" charset="-122"/>
                <a:cs typeface="Gelasio" pitchFamily="34" charset="-120"/>
              </a:rPr>
              <a:t>Provide real-time updates and centralized monitoring to improve staff coordination.</a:t>
            </a:r>
            <a:endParaRPr lang="en-US" sz="1500" dirty="0"/>
          </a:p>
        </p:txBody>
      </p:sp>
      <p:sp>
        <p:nvSpPr>
          <p:cNvPr id="14" name="Text 12"/>
          <p:cNvSpPr/>
          <p:nvPr/>
        </p:nvSpPr>
        <p:spPr>
          <a:xfrm>
            <a:off x="793790" y="7019925"/>
            <a:ext cx="13042821" cy="285274"/>
          </a:xfrm>
          <a:prstGeom prst="rect">
            <a:avLst/>
          </a:prstGeom>
          <a:noFill/>
          <a:ln/>
        </p:spPr>
        <p:txBody>
          <a:bodyPr wrap="none" lIns="0" tIns="0" rIns="0" bIns="0" rtlCol="0" anchor="t"/>
          <a:lstStyle/>
          <a:p>
            <a:pPr algn="l" indent="0" marL="0">
              <a:lnSpc>
                <a:spcPts val="2200"/>
              </a:lnSpc>
              <a:buNone/>
            </a:pPr>
            <a:r>
              <a:rPr lang="en-US" sz="1500" dirty="0">
                <a:solidFill>
                  <a:srgbClr val="746558"/>
                </a:solidFill>
                <a:latin typeface="Gelasio" pitchFamily="34" charset="0"/>
                <a:ea typeface="Gelasio" pitchFamily="34" charset="-122"/>
                <a:cs typeface="Gelasio" pitchFamily="34" charset="-120"/>
              </a:rPr>
              <a:t>Store and analyze table usage data to optimize seating capacity, reduce waiting time, and increase overall efficiency.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08723"/>
            <a:ext cx="9904452" cy="708779"/>
          </a:xfrm>
          <a:prstGeom prst="rect">
            <a:avLst/>
          </a:prstGeom>
          <a:noFill/>
          <a:ln/>
        </p:spPr>
        <p:txBody>
          <a:bodyPr wrap="none" lIns="0" tIns="0" rIns="0" bIns="0" rtlCol="0" anchor="t"/>
          <a:lstStyle/>
          <a:p>
            <a:pPr algn="l"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Literature Review or Related works</a:t>
            </a:r>
            <a:endParaRPr lang="en-US" sz="4450" dirty="0"/>
          </a:p>
        </p:txBody>
      </p:sp>
      <p:sp>
        <p:nvSpPr>
          <p:cNvPr id="3" name="Text 1"/>
          <p:cNvSpPr/>
          <p:nvPr/>
        </p:nvSpPr>
        <p:spPr>
          <a:xfrm>
            <a:off x="793790" y="2371130"/>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746558"/>
                </a:solidFill>
                <a:latin typeface="Gelasio" pitchFamily="34" charset="0"/>
                <a:ea typeface="Gelasio" pitchFamily="34" charset="-122"/>
                <a:cs typeface="Gelasio" pitchFamily="34" charset="-120"/>
              </a:rPr>
              <a:t>Ref [1]</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discusses the implementation of restaurant management systems that automate billing and order processing. The study highlights the importance of digital solutions in reducing manual workload and improving service efficiency.</a:t>
            </a:r>
            <a:endParaRPr lang="en-US" sz="1750" dirty="0"/>
          </a:p>
        </p:txBody>
      </p:sp>
      <p:sp>
        <p:nvSpPr>
          <p:cNvPr id="4" name="Text 2"/>
          <p:cNvSpPr/>
          <p:nvPr/>
        </p:nvSpPr>
        <p:spPr>
          <a:xfrm>
            <a:off x="793790" y="3352086"/>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746558"/>
                </a:solidFill>
                <a:latin typeface="Gelasio" pitchFamily="34" charset="0"/>
                <a:ea typeface="Gelasio" pitchFamily="34" charset="-122"/>
                <a:cs typeface="Gelasio" pitchFamily="34" charset="-120"/>
              </a:rPr>
              <a:t>Ref [2]</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focuses on smart resource allocation techniques in the hospitality industry. The research emphasizes optimizing table usage and minimizing waiting time through structured data monitoring.</a:t>
            </a:r>
            <a:endParaRPr lang="en-US" sz="1750" dirty="0"/>
          </a:p>
        </p:txBody>
      </p:sp>
      <p:sp>
        <p:nvSpPr>
          <p:cNvPr id="5" name="Text 3"/>
          <p:cNvSpPr/>
          <p:nvPr/>
        </p:nvSpPr>
        <p:spPr>
          <a:xfrm>
            <a:off x="793790" y="4333042"/>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746558"/>
                </a:solidFill>
                <a:latin typeface="Gelasio" pitchFamily="34" charset="0"/>
                <a:ea typeface="Gelasio" pitchFamily="34" charset="-122"/>
                <a:cs typeface="Gelasio" pitchFamily="34" charset="-120"/>
              </a:rPr>
              <a:t>Ref [3]</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presents an IoT-based system for real-time monitoring of table occupancy. The proposed system uses sensors to detect whether a table is occupied or free, improving operational visibility. However, it lacks integrated analytics for decision-making.</a:t>
            </a:r>
            <a:endParaRPr lang="en-US" sz="1750" dirty="0"/>
          </a:p>
        </p:txBody>
      </p:sp>
      <p:sp>
        <p:nvSpPr>
          <p:cNvPr id="6" name="Text 4"/>
          <p:cNvSpPr/>
          <p:nvPr/>
        </p:nvSpPr>
        <p:spPr>
          <a:xfrm>
            <a:off x="793790" y="5313998"/>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746558"/>
                </a:solidFill>
                <a:latin typeface="Gelasio" pitchFamily="34" charset="0"/>
                <a:ea typeface="Gelasio" pitchFamily="34" charset="-122"/>
                <a:cs typeface="Gelasio" pitchFamily="34" charset="-120"/>
              </a:rPr>
              <a:t>Ref [4]</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explains the use of data analytics in predicting customer flow and peak hours in restaurants. The system helps managers prepare staff and resources in advance but does not fully automate table lifecycle management.</a:t>
            </a:r>
            <a:endParaRPr lang="en-US" sz="1750" dirty="0"/>
          </a:p>
        </p:txBody>
      </p:sp>
      <p:sp>
        <p:nvSpPr>
          <p:cNvPr id="7" name="Text 5"/>
          <p:cNvSpPr/>
          <p:nvPr/>
        </p:nvSpPr>
        <p:spPr>
          <a:xfrm>
            <a:off x="793790" y="6294953"/>
            <a:ext cx="13042821" cy="725805"/>
          </a:xfrm>
          <a:prstGeom prst="rect">
            <a:avLst/>
          </a:prstGeom>
          <a:noFill/>
          <a:ln/>
        </p:spPr>
        <p:txBody>
          <a:bodyPr wrap="square" lIns="0" tIns="0" rIns="0" bIns="0" rtlCol="0" anchor="t"/>
          <a:lstStyle/>
          <a:p>
            <a:pPr algn="l" indent="0" marL="0">
              <a:lnSpc>
                <a:spcPts val="2850"/>
              </a:lnSpc>
              <a:buNone/>
            </a:pPr>
            <a:r>
              <a:rPr lang="en-US" sz="1750" b="1" dirty="0">
                <a:solidFill>
                  <a:srgbClr val="746558"/>
                </a:solidFill>
                <a:latin typeface="Gelasio" pitchFamily="34" charset="0"/>
                <a:ea typeface="Gelasio" pitchFamily="34" charset="-122"/>
                <a:cs typeface="Gelasio" pitchFamily="34" charset="-120"/>
              </a:rPr>
              <a:t>Ref [5]</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studies workflow automation in small and medium-sized restaurants. The paper identifies the challenges of manual communication between staff and suggests centralized dashboards for better coordination.</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66882" y="813673"/>
            <a:ext cx="6321147" cy="1163955"/>
          </a:xfrm>
          <a:prstGeom prst="rect">
            <a:avLst/>
          </a:prstGeom>
          <a:noFill/>
          <a:ln/>
        </p:spPr>
        <p:txBody>
          <a:bodyPr wrap="square" lIns="0" tIns="0" rIns="0" bIns="0" rtlCol="0" anchor="t"/>
          <a:lstStyle/>
          <a:p>
            <a:pPr algn="l" indent="0" marL="0">
              <a:lnSpc>
                <a:spcPts val="4550"/>
              </a:lnSpc>
              <a:buNone/>
            </a:pPr>
            <a:r>
              <a:rPr lang="en-US" sz="3650" dirty="0">
                <a:solidFill>
                  <a:srgbClr val="484237"/>
                </a:solidFill>
                <a:latin typeface="Gelasio Semi Bold" pitchFamily="34" charset="0"/>
                <a:ea typeface="Gelasio Semi Bold" pitchFamily="34" charset="-122"/>
                <a:cs typeface="Gelasio Semi Bold" pitchFamily="34" charset="-120"/>
              </a:rPr>
              <a:t>Proposed Method and Modules</a:t>
            </a:r>
            <a:endParaRPr lang="en-US" sz="3650" dirty="0"/>
          </a:p>
        </p:txBody>
      </p:sp>
      <p:sp>
        <p:nvSpPr>
          <p:cNvPr id="3" name="Text 1"/>
          <p:cNvSpPr/>
          <p:nvPr/>
        </p:nvSpPr>
        <p:spPr>
          <a:xfrm>
            <a:off x="7549991" y="813673"/>
            <a:ext cx="6321147" cy="581739"/>
          </a:xfrm>
          <a:prstGeom prst="rect">
            <a:avLst/>
          </a:prstGeom>
          <a:noFill/>
          <a:ln/>
        </p:spPr>
        <p:txBody>
          <a:bodyPr wrap="square" lIns="0" tIns="0" rIns="0" bIns="0" rtlCol="0" anchor="t"/>
          <a:lstStyle/>
          <a:p>
            <a:pPr algn="l" indent="0" marL="0">
              <a:lnSpc>
                <a:spcPts val="2250"/>
              </a:lnSpc>
              <a:buNone/>
            </a:pPr>
            <a:r>
              <a:rPr lang="en-US" sz="1800" dirty="0">
                <a:solidFill>
                  <a:srgbClr val="484237"/>
                </a:solidFill>
                <a:latin typeface="Gelasio Semi Bold" pitchFamily="34" charset="0"/>
                <a:ea typeface="Gelasio Semi Bold" pitchFamily="34" charset="-122"/>
                <a:cs typeface="Gelasio Semi Bold" pitchFamily="34" charset="-120"/>
              </a:rPr>
              <a:t>Monte Carlo-Based Smart Table Turnover Optimization System</a:t>
            </a:r>
            <a:endParaRPr lang="en-US" sz="1800" dirty="0"/>
          </a:p>
        </p:txBody>
      </p:sp>
      <p:sp>
        <p:nvSpPr>
          <p:cNvPr id="4" name="Text 2"/>
          <p:cNvSpPr/>
          <p:nvPr/>
        </p:nvSpPr>
        <p:spPr>
          <a:xfrm>
            <a:off x="7549991" y="1548289"/>
            <a:ext cx="6321147" cy="1627346"/>
          </a:xfrm>
          <a:prstGeom prst="rect">
            <a:avLst/>
          </a:prstGeom>
          <a:noFill/>
          <a:ln/>
        </p:spPr>
        <p:txBody>
          <a:bodyPr wrap="square" lIns="0" tIns="0" rIns="0" bIns="0" rtlCol="0" anchor="t"/>
          <a:lstStyle/>
          <a:p>
            <a:pPr algn="l" indent="0" marL="0">
              <a:lnSpc>
                <a:spcPts val="2100"/>
              </a:lnSpc>
              <a:buNone/>
            </a:pPr>
            <a:r>
              <a:rPr lang="en-US" sz="1450" dirty="0">
                <a:solidFill>
                  <a:srgbClr val="746558"/>
                </a:solidFill>
                <a:latin typeface="Gelasio" pitchFamily="34" charset="0"/>
                <a:ea typeface="Gelasio" pitchFamily="34" charset="-122"/>
                <a:cs typeface="Gelasio" pitchFamily="34" charset="-120"/>
              </a:rPr>
              <a:t>The proposed system uses the Monte Carlo simulation method to model uncertainty in restaurant operations such as customer arrival time, dining duration, and table cleaning time. By performing multiple random simulations, the system predicts waiting time, table utilization, and peak-hour congestion. This helps optimize table turnover and improve operational efficiency.</a:t>
            </a:r>
            <a:endParaRPr lang="en-US" sz="1450" dirty="0"/>
          </a:p>
        </p:txBody>
      </p:sp>
      <p:sp>
        <p:nvSpPr>
          <p:cNvPr id="5" name="Text 3"/>
          <p:cNvSpPr/>
          <p:nvPr/>
        </p:nvSpPr>
        <p:spPr>
          <a:xfrm>
            <a:off x="7549991" y="3313271"/>
            <a:ext cx="6321147" cy="271224"/>
          </a:xfrm>
          <a:prstGeom prst="rect">
            <a:avLst/>
          </a:prstGeom>
          <a:noFill/>
          <a:ln/>
        </p:spPr>
        <p:txBody>
          <a:bodyPr wrap="none" lIns="0" tIns="0" rIns="0" bIns="0" rtlCol="0" anchor="t"/>
          <a:lstStyle/>
          <a:p>
            <a:pPr algn="l" indent="0" marL="0">
              <a:lnSpc>
                <a:spcPts val="2100"/>
              </a:lnSpc>
              <a:buNone/>
            </a:pPr>
            <a:r>
              <a:rPr lang="en-US" sz="1450" b="1" dirty="0">
                <a:solidFill>
                  <a:srgbClr val="746558"/>
                </a:solidFill>
                <a:latin typeface="Gelasio" pitchFamily="34" charset="0"/>
                <a:ea typeface="Gelasio" pitchFamily="34" charset="-122"/>
                <a:cs typeface="Gelasio" pitchFamily="34" charset="-120"/>
              </a:rPr>
              <a:t>Our system consists of 6 modules:</a:t>
            </a:r>
            <a:endParaRPr lang="en-US" sz="1450" dirty="0"/>
          </a:p>
        </p:txBody>
      </p:sp>
      <p:sp>
        <p:nvSpPr>
          <p:cNvPr id="6" name="Text 4"/>
          <p:cNvSpPr/>
          <p:nvPr/>
        </p:nvSpPr>
        <p:spPr>
          <a:xfrm>
            <a:off x="7549991" y="3722132"/>
            <a:ext cx="6321147" cy="3793212"/>
          </a:xfrm>
          <a:prstGeom prst="rect">
            <a:avLst/>
          </a:prstGeom>
          <a:noFill/>
          <a:ln/>
        </p:spPr>
        <p:txBody>
          <a:bodyPr wrap="square" lIns="0" tIns="0" rIns="0" bIns="0" rtlCol="0" anchor="t"/>
          <a:lstStyle/>
          <a:p>
            <a:pPr algn="l" marL="342900" indent="-342900">
              <a:lnSpc>
                <a:spcPts val="2100"/>
              </a:lnSpc>
              <a:buSzPct val="100000"/>
              <a:buFont typeface="+mj-lt"/>
              <a:buAutoNum type="arabicPeriod" startAt="1"/>
            </a:pPr>
            <a:r>
              <a:rPr lang="en-US" sz="1450" b="1" dirty="0">
                <a:solidFill>
                  <a:srgbClr val="746558"/>
                </a:solidFill>
                <a:latin typeface="Gelasio" pitchFamily="34" charset="0"/>
                <a:ea typeface="Gelasio" pitchFamily="34" charset="-122"/>
                <a:cs typeface="Gelasio" pitchFamily="34" charset="-120"/>
              </a:rPr>
              <a:t>User Authentication Module</a:t>
            </a:r>
            <a:pPr algn="l" indent="0" marL="0">
              <a:lnSpc>
                <a:spcPts val="2100"/>
              </a:lnSpc>
              <a:buNone/>
            </a:pPr>
            <a:r>
              <a:rPr lang="en-US" sz="1450" dirty="0">
                <a:solidFill>
                  <a:srgbClr val="746558"/>
                </a:solidFill>
                <a:latin typeface="Gelasio" pitchFamily="34" charset="0"/>
                <a:ea typeface="Gelasio" pitchFamily="34" charset="-122"/>
                <a:cs typeface="Gelasio" pitchFamily="34" charset="-120"/>
              </a:rPr>
              <a:t> – Handles login and controls user access.</a:t>
            </a:r>
            <a:endParaRPr lang="en-US" sz="1450" dirty="0"/>
          </a:p>
          <a:p>
            <a:pPr algn="l" marL="342900" indent="-342900">
              <a:lnSpc>
                <a:spcPts val="2100"/>
              </a:lnSpc>
              <a:buSzPct val="100000"/>
              <a:buFont typeface="+mj-lt"/>
              <a:buAutoNum type="arabicPeriod" startAt="2"/>
            </a:pPr>
            <a:r>
              <a:rPr lang="en-US" sz="1450" b="1" dirty="0">
                <a:solidFill>
                  <a:srgbClr val="746558"/>
                </a:solidFill>
                <a:latin typeface="Gelasio" pitchFamily="34" charset="0"/>
                <a:ea typeface="Gelasio" pitchFamily="34" charset="-122"/>
                <a:cs typeface="Gelasio" pitchFamily="34" charset="-120"/>
              </a:rPr>
              <a:t>Restaurant Owner Access Module</a:t>
            </a:r>
            <a:pPr algn="l" indent="0" marL="0">
              <a:lnSpc>
                <a:spcPts val="2100"/>
              </a:lnSpc>
              <a:buNone/>
            </a:pPr>
            <a:r>
              <a:rPr lang="en-US" sz="1450" dirty="0">
                <a:solidFill>
                  <a:srgbClr val="746558"/>
                </a:solidFill>
                <a:latin typeface="Gelasio" pitchFamily="34" charset="0"/>
                <a:ea typeface="Gelasio" pitchFamily="34" charset="-122"/>
                <a:cs typeface="Gelasio" pitchFamily="34" charset="-120"/>
              </a:rPr>
              <a:t> – Provides special access to the restaurant owner to view reports, monitor performance, and manage system settings.</a:t>
            </a:r>
            <a:endParaRPr lang="en-US" sz="1450" dirty="0"/>
          </a:p>
          <a:p>
            <a:pPr algn="l" marL="342900" indent="-342900">
              <a:lnSpc>
                <a:spcPts val="2100"/>
              </a:lnSpc>
              <a:buSzPct val="100000"/>
              <a:buFont typeface="+mj-lt"/>
              <a:buAutoNum type="arabicPeriod" startAt="3"/>
            </a:pPr>
            <a:r>
              <a:rPr lang="en-US" sz="1450" b="1" dirty="0">
                <a:solidFill>
                  <a:srgbClr val="746558"/>
                </a:solidFill>
                <a:latin typeface="Gelasio" pitchFamily="34" charset="0"/>
                <a:ea typeface="Gelasio" pitchFamily="34" charset="-122"/>
                <a:cs typeface="Gelasio" pitchFamily="34" charset="-120"/>
              </a:rPr>
              <a:t>Table Configuration Module</a:t>
            </a:r>
            <a:pPr algn="l" indent="0" marL="0">
              <a:lnSpc>
                <a:spcPts val="2100"/>
              </a:lnSpc>
              <a:buNone/>
            </a:pPr>
            <a:r>
              <a:rPr lang="en-US" sz="1450" dirty="0">
                <a:solidFill>
                  <a:srgbClr val="746558"/>
                </a:solidFill>
                <a:latin typeface="Gelasio" pitchFamily="34" charset="0"/>
                <a:ea typeface="Gelasio" pitchFamily="34" charset="-122"/>
                <a:cs typeface="Gelasio" pitchFamily="34" charset="-120"/>
              </a:rPr>
              <a:t> – Stores the number of tables and their seating capacity.</a:t>
            </a:r>
            <a:endParaRPr lang="en-US" sz="1450" dirty="0"/>
          </a:p>
          <a:p>
            <a:pPr algn="l" marL="342900" indent="-342900">
              <a:lnSpc>
                <a:spcPts val="2100"/>
              </a:lnSpc>
              <a:buSzPct val="100000"/>
              <a:buFont typeface="+mj-lt"/>
              <a:buAutoNum type="arabicPeriod" startAt="4"/>
            </a:pPr>
            <a:r>
              <a:rPr lang="en-US" sz="1450" b="1" dirty="0">
                <a:solidFill>
                  <a:srgbClr val="746558"/>
                </a:solidFill>
                <a:latin typeface="Gelasio" pitchFamily="34" charset="0"/>
                <a:ea typeface="Gelasio" pitchFamily="34" charset="-122"/>
                <a:cs typeface="Gelasio" pitchFamily="34" charset="-120"/>
              </a:rPr>
              <a:t>Table Lifecycle Management Module</a:t>
            </a:r>
            <a:pPr algn="l" indent="0" marL="0">
              <a:lnSpc>
                <a:spcPts val="2100"/>
              </a:lnSpc>
              <a:buNone/>
            </a:pPr>
            <a:r>
              <a:rPr lang="en-US" sz="1450" dirty="0">
                <a:solidFill>
                  <a:srgbClr val="746558"/>
                </a:solidFill>
                <a:latin typeface="Gelasio" pitchFamily="34" charset="0"/>
                <a:ea typeface="Gelasio" pitchFamily="34" charset="-122"/>
                <a:cs typeface="Gelasio" pitchFamily="34" charset="-120"/>
              </a:rPr>
              <a:t> – Tracks the status of each table (Occupied, Cleaning, Ready, Available).</a:t>
            </a:r>
            <a:endParaRPr lang="en-US" sz="1450" dirty="0"/>
          </a:p>
          <a:p>
            <a:pPr algn="l" marL="342900" indent="-342900">
              <a:lnSpc>
                <a:spcPts val="2100"/>
              </a:lnSpc>
              <a:buSzPct val="100000"/>
              <a:buFont typeface="+mj-lt"/>
              <a:buAutoNum type="arabicPeriod" startAt="5"/>
            </a:pPr>
            <a:r>
              <a:rPr lang="en-US" sz="1450" b="1" dirty="0">
                <a:solidFill>
                  <a:srgbClr val="746558"/>
                </a:solidFill>
                <a:latin typeface="Gelasio" pitchFamily="34" charset="0"/>
                <a:ea typeface="Gelasio" pitchFamily="34" charset="-122"/>
                <a:cs typeface="Gelasio" pitchFamily="34" charset="-120"/>
              </a:rPr>
              <a:t>Monte Carlo Simulation Module</a:t>
            </a:r>
            <a:pPr algn="l" indent="0" marL="0">
              <a:lnSpc>
                <a:spcPts val="2100"/>
              </a:lnSpc>
              <a:buNone/>
            </a:pPr>
            <a:r>
              <a:rPr lang="en-US" sz="1450" dirty="0">
                <a:solidFill>
                  <a:srgbClr val="746558"/>
                </a:solidFill>
                <a:latin typeface="Gelasio" pitchFamily="34" charset="0"/>
                <a:ea typeface="Gelasio" pitchFamily="34" charset="-122"/>
                <a:cs typeface="Gelasio" pitchFamily="34" charset="-120"/>
              </a:rPr>
              <a:t> – Simulates customer arrival and dining time to predict waiting time and table utilization.</a:t>
            </a:r>
            <a:endParaRPr lang="en-US" sz="1450" dirty="0"/>
          </a:p>
          <a:p>
            <a:pPr algn="l" marL="342900" indent="-342900">
              <a:lnSpc>
                <a:spcPts val="2100"/>
              </a:lnSpc>
              <a:buSzPct val="100000"/>
              <a:buFont typeface="+mj-lt"/>
              <a:buAutoNum type="arabicPeriod" startAt="6"/>
            </a:pPr>
            <a:r>
              <a:rPr lang="en-US" sz="1450" b="1" dirty="0">
                <a:solidFill>
                  <a:srgbClr val="746558"/>
                </a:solidFill>
                <a:latin typeface="Gelasio" pitchFamily="34" charset="0"/>
                <a:ea typeface="Gelasio" pitchFamily="34" charset="-122"/>
                <a:cs typeface="Gelasio" pitchFamily="34" charset="-120"/>
              </a:rPr>
              <a:t>Analytics and Reporting Module</a:t>
            </a:r>
            <a:pPr algn="l" indent="0" marL="0">
              <a:lnSpc>
                <a:spcPts val="2100"/>
              </a:lnSpc>
              <a:buNone/>
            </a:pPr>
            <a:r>
              <a:rPr lang="en-US" sz="1450" dirty="0">
                <a:solidFill>
                  <a:srgbClr val="746558"/>
                </a:solidFill>
                <a:latin typeface="Gelasio" pitchFamily="34" charset="0"/>
                <a:ea typeface="Gelasio" pitchFamily="34" charset="-122"/>
                <a:cs typeface="Gelasio" pitchFamily="34" charset="-120"/>
              </a:rPr>
              <a:t> – Displays performance data such as utilization rate and average waiting time.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97468"/>
            <a:ext cx="5097899" cy="602456"/>
          </a:xfrm>
          <a:prstGeom prst="rect">
            <a:avLst/>
          </a:prstGeom>
          <a:noFill/>
          <a:ln/>
        </p:spPr>
        <p:txBody>
          <a:bodyPr wrap="none" lIns="0" tIns="0" rIns="0" bIns="0" rtlCol="0" anchor="t"/>
          <a:lstStyle/>
          <a:p>
            <a:pPr algn="l" indent="0" marL="0">
              <a:lnSpc>
                <a:spcPts val="4700"/>
              </a:lnSpc>
              <a:buNone/>
            </a:pPr>
            <a:r>
              <a:rPr lang="en-US" sz="3750" dirty="0">
                <a:solidFill>
                  <a:srgbClr val="484237"/>
                </a:solidFill>
                <a:latin typeface="Gelasio Semi Bold" pitchFamily="34" charset="0"/>
                <a:ea typeface="Gelasio Semi Bold" pitchFamily="34" charset="-122"/>
                <a:cs typeface="Gelasio Semi Bold" pitchFamily="34" charset="-120"/>
              </a:rPr>
              <a:t>Architecture diagram</a:t>
            </a:r>
            <a:endParaRPr lang="en-US" sz="3750" dirty="0"/>
          </a:p>
        </p:txBody>
      </p:sp>
      <p:pic>
        <p:nvPicPr>
          <p:cNvPr id="3" name="Image 0" descr="preencoded.png">    </p:cNvPr>
          <p:cNvPicPr>
            <a:picLocks noChangeAspect="1"/>
          </p:cNvPicPr>
          <p:nvPr/>
        </p:nvPicPr>
        <p:blipFill>
          <a:blip r:embed="rId1"/>
          <a:stretch>
            <a:fillRect/>
          </a:stretch>
        </p:blipFill>
        <p:spPr>
          <a:xfrm>
            <a:off x="793790" y="1627584"/>
            <a:ext cx="8856821" cy="59045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59963" y="646628"/>
            <a:ext cx="3885248" cy="1365766"/>
          </a:xfrm>
          <a:prstGeom prst="roundRect">
            <a:avLst>
              <a:gd name="adj" fmla="val 1694"/>
            </a:avLst>
          </a:prstGeom>
          <a:solidFill>
            <a:srgbClr val="5B9BD5"/>
          </a:solidFill>
          <a:ln/>
        </p:spPr>
      </p:sp>
      <p:sp>
        <p:nvSpPr>
          <p:cNvPr id="3" name="Text 1"/>
          <p:cNvSpPr/>
          <p:nvPr/>
        </p:nvSpPr>
        <p:spPr>
          <a:xfrm>
            <a:off x="814149" y="751403"/>
            <a:ext cx="3576876" cy="1156216"/>
          </a:xfrm>
          <a:prstGeom prst="rect">
            <a:avLst/>
          </a:prstGeom>
          <a:noFill/>
          <a:ln/>
        </p:spPr>
        <p:txBody>
          <a:bodyPr wrap="square" lIns="0" tIns="0" rIns="0" bIns="0" rtlCol="0" anchor="t"/>
          <a:lstStyle/>
          <a:p>
            <a:pPr algn="l" indent="0" marL="0">
              <a:lnSpc>
                <a:spcPts val="3000"/>
              </a:lnSpc>
              <a:buNone/>
            </a:pPr>
            <a:r>
              <a:rPr lang="en-US" sz="2400" dirty="0">
                <a:solidFill>
                  <a:srgbClr val="000000"/>
                </a:solidFill>
                <a:latin typeface="Gelasio Semi Bold" pitchFamily="34" charset="0"/>
                <a:ea typeface="Gelasio Semi Bold" pitchFamily="34" charset="-122"/>
                <a:cs typeface="Gelasio Semi Bold" pitchFamily="34" charset="-120"/>
              </a:rPr>
              <a:t>Functional &amp; Non-functional Requirements</a:t>
            </a:r>
            <a:endParaRPr lang="en-US" sz="2400" dirty="0"/>
          </a:p>
        </p:txBody>
      </p:sp>
      <p:sp>
        <p:nvSpPr>
          <p:cNvPr id="4" name="Text 2"/>
          <p:cNvSpPr/>
          <p:nvPr/>
        </p:nvSpPr>
        <p:spPr>
          <a:xfrm>
            <a:off x="4817983" y="740926"/>
            <a:ext cx="9048869" cy="207169"/>
          </a:xfrm>
          <a:prstGeom prst="rect">
            <a:avLst/>
          </a:prstGeom>
          <a:noFill/>
          <a:ln/>
        </p:spPr>
        <p:txBody>
          <a:bodyPr wrap="none" lIns="0" tIns="0" rIns="0" bIns="0" rtlCol="0" anchor="t"/>
          <a:lstStyle/>
          <a:p>
            <a:pPr algn="l" indent="0" marL="0">
              <a:lnSpc>
                <a:spcPts val="1600"/>
              </a:lnSpc>
              <a:buNone/>
            </a:pPr>
            <a:endParaRPr lang="en-US" sz="1200" dirty="0"/>
          </a:p>
        </p:txBody>
      </p:sp>
      <p:sp>
        <p:nvSpPr>
          <p:cNvPr id="5" name="Text 3"/>
          <p:cNvSpPr/>
          <p:nvPr/>
        </p:nvSpPr>
        <p:spPr>
          <a:xfrm>
            <a:off x="771049" y="2235041"/>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Functional</a:t>
            </a:r>
            <a:endParaRPr lang="en-US" sz="1500" dirty="0"/>
          </a:p>
        </p:txBody>
      </p:sp>
      <p:sp>
        <p:nvSpPr>
          <p:cNvPr id="6" name="Text 4"/>
          <p:cNvSpPr/>
          <p:nvPr/>
        </p:nvSpPr>
        <p:spPr>
          <a:xfrm>
            <a:off x="771049" y="2517815"/>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User Authentication</a:t>
            </a:r>
            <a:endParaRPr lang="en-US" sz="1500" dirty="0"/>
          </a:p>
        </p:txBody>
      </p:sp>
      <p:sp>
        <p:nvSpPr>
          <p:cNvPr id="7" name="Text 5"/>
          <p:cNvSpPr/>
          <p:nvPr/>
        </p:nvSpPr>
        <p:spPr>
          <a:xfrm>
            <a:off x="771049" y="2863453"/>
            <a:ext cx="6356032" cy="414338"/>
          </a:xfrm>
          <a:prstGeom prst="rect">
            <a:avLst/>
          </a:prstGeom>
          <a:noFill/>
          <a:ln/>
        </p:spPr>
        <p:txBody>
          <a:bodyPr wrap="squar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should allow users to log in securely, differentiate between Staff and Restaurant Owner access.</a:t>
            </a:r>
            <a:endParaRPr lang="en-US" sz="1200" dirty="0"/>
          </a:p>
        </p:txBody>
      </p:sp>
      <p:sp>
        <p:nvSpPr>
          <p:cNvPr id="8" name="Text 6"/>
          <p:cNvSpPr/>
          <p:nvPr/>
        </p:nvSpPr>
        <p:spPr>
          <a:xfrm>
            <a:off x="771049" y="3382566"/>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Table Configuration</a:t>
            </a:r>
            <a:endParaRPr lang="en-US" sz="1500" dirty="0"/>
          </a:p>
        </p:txBody>
      </p:sp>
      <p:sp>
        <p:nvSpPr>
          <p:cNvPr id="9" name="Text 7"/>
          <p:cNvSpPr/>
          <p:nvPr/>
        </p:nvSpPr>
        <p:spPr>
          <a:xfrm>
            <a:off x="771049" y="3728204"/>
            <a:ext cx="6356032" cy="414338"/>
          </a:xfrm>
          <a:prstGeom prst="rect">
            <a:avLst/>
          </a:prstGeom>
          <a:noFill/>
          <a:ln/>
        </p:spPr>
        <p:txBody>
          <a:bodyPr wrap="squar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should allow the owner to configure the number of tables, store seating capacity for each table.</a:t>
            </a:r>
            <a:endParaRPr lang="en-US" sz="1200" dirty="0"/>
          </a:p>
        </p:txBody>
      </p:sp>
      <p:sp>
        <p:nvSpPr>
          <p:cNvPr id="10" name="Text 8"/>
          <p:cNvSpPr/>
          <p:nvPr/>
        </p:nvSpPr>
        <p:spPr>
          <a:xfrm>
            <a:off x="771049" y="4247317"/>
            <a:ext cx="2458403"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Table Status Management</a:t>
            </a:r>
            <a:endParaRPr lang="en-US" sz="1500" dirty="0"/>
          </a:p>
        </p:txBody>
      </p:sp>
      <p:sp>
        <p:nvSpPr>
          <p:cNvPr id="11" name="Text 9"/>
          <p:cNvSpPr/>
          <p:nvPr/>
        </p:nvSpPr>
        <p:spPr>
          <a:xfrm>
            <a:off x="771049" y="4592955"/>
            <a:ext cx="6356032" cy="414338"/>
          </a:xfrm>
          <a:prstGeom prst="rect">
            <a:avLst/>
          </a:prstGeom>
          <a:noFill/>
          <a:ln/>
        </p:spPr>
        <p:txBody>
          <a:bodyPr wrap="squar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should update table status (Occupied, Cleaning, Ready, Available), allow staff to allocate tables to customers, should allow staff to mark tables as ready after cleaning.</a:t>
            </a:r>
            <a:endParaRPr lang="en-US" sz="1200" dirty="0"/>
          </a:p>
        </p:txBody>
      </p:sp>
      <p:sp>
        <p:nvSpPr>
          <p:cNvPr id="12" name="Text 10"/>
          <p:cNvSpPr/>
          <p:nvPr/>
        </p:nvSpPr>
        <p:spPr>
          <a:xfrm>
            <a:off x="771049" y="5112068"/>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Order Assignment</a:t>
            </a:r>
            <a:endParaRPr lang="en-US" sz="1500" dirty="0"/>
          </a:p>
        </p:txBody>
      </p:sp>
      <p:sp>
        <p:nvSpPr>
          <p:cNvPr id="13" name="Text 11"/>
          <p:cNvSpPr/>
          <p:nvPr/>
        </p:nvSpPr>
        <p:spPr>
          <a:xfrm>
            <a:off x="771049" y="5457706"/>
            <a:ext cx="6356032" cy="207169"/>
          </a:xfrm>
          <a:prstGeom prst="rect">
            <a:avLst/>
          </a:prstGeom>
          <a:noFill/>
          <a:ln/>
        </p:spPr>
        <p:txBody>
          <a:bodyPr wrap="non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should allow staff to assign orders to specific tables.</a:t>
            </a:r>
            <a:endParaRPr lang="en-US" sz="1200" dirty="0"/>
          </a:p>
        </p:txBody>
      </p:sp>
      <p:sp>
        <p:nvSpPr>
          <p:cNvPr id="14" name="Text 12"/>
          <p:cNvSpPr/>
          <p:nvPr/>
        </p:nvSpPr>
        <p:spPr>
          <a:xfrm>
            <a:off x="771049" y="5769650"/>
            <a:ext cx="2277308"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Monte Carlo Simulation</a:t>
            </a:r>
            <a:endParaRPr lang="en-US" sz="1500" dirty="0"/>
          </a:p>
        </p:txBody>
      </p:sp>
      <p:sp>
        <p:nvSpPr>
          <p:cNvPr id="15" name="Text 13"/>
          <p:cNvSpPr/>
          <p:nvPr/>
        </p:nvSpPr>
        <p:spPr>
          <a:xfrm>
            <a:off x="771049" y="6115288"/>
            <a:ext cx="6356032" cy="414338"/>
          </a:xfrm>
          <a:prstGeom prst="rect">
            <a:avLst/>
          </a:prstGeom>
          <a:noFill/>
          <a:ln/>
        </p:spPr>
        <p:txBody>
          <a:bodyPr wrap="squar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should simulate random customer arrivals and dining duration, estimate expected waiting time, calculate table utilization rate.</a:t>
            </a:r>
            <a:endParaRPr lang="en-US" sz="1200" dirty="0"/>
          </a:p>
        </p:txBody>
      </p:sp>
      <p:sp>
        <p:nvSpPr>
          <p:cNvPr id="16" name="Text 14"/>
          <p:cNvSpPr/>
          <p:nvPr/>
        </p:nvSpPr>
        <p:spPr>
          <a:xfrm>
            <a:off x="771049" y="6634401"/>
            <a:ext cx="2076807"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Analytics &amp; Reporting</a:t>
            </a:r>
            <a:endParaRPr lang="en-US" sz="1500" dirty="0"/>
          </a:p>
        </p:txBody>
      </p:sp>
      <p:sp>
        <p:nvSpPr>
          <p:cNvPr id="17" name="Text 15"/>
          <p:cNvSpPr/>
          <p:nvPr/>
        </p:nvSpPr>
        <p:spPr>
          <a:xfrm>
            <a:off x="771049" y="6980039"/>
            <a:ext cx="6356032" cy="414338"/>
          </a:xfrm>
          <a:prstGeom prst="rect">
            <a:avLst/>
          </a:prstGeom>
          <a:noFill/>
          <a:ln/>
        </p:spPr>
        <p:txBody>
          <a:bodyPr wrap="squar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should display peak hour analysis, generate utilization reports, provide real-time dashboard insights for the owner.</a:t>
            </a:r>
            <a:endParaRPr lang="en-US" sz="1200" dirty="0"/>
          </a:p>
        </p:txBody>
      </p:sp>
      <p:sp>
        <p:nvSpPr>
          <p:cNvPr id="18" name="Text 16"/>
          <p:cNvSpPr/>
          <p:nvPr/>
        </p:nvSpPr>
        <p:spPr>
          <a:xfrm>
            <a:off x="7510939" y="2235041"/>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Non-functional:</a:t>
            </a:r>
            <a:endParaRPr lang="en-US" sz="1500" dirty="0"/>
          </a:p>
        </p:txBody>
      </p:sp>
      <p:sp>
        <p:nvSpPr>
          <p:cNvPr id="19" name="Text 17"/>
          <p:cNvSpPr/>
          <p:nvPr/>
        </p:nvSpPr>
        <p:spPr>
          <a:xfrm>
            <a:off x="7510939" y="2517815"/>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Performance</a:t>
            </a:r>
            <a:endParaRPr lang="en-US" sz="1500" dirty="0"/>
          </a:p>
        </p:txBody>
      </p:sp>
      <p:sp>
        <p:nvSpPr>
          <p:cNvPr id="20" name="Text 18"/>
          <p:cNvSpPr/>
          <p:nvPr/>
        </p:nvSpPr>
        <p:spPr>
          <a:xfrm>
            <a:off x="7510939" y="2863453"/>
            <a:ext cx="6356032" cy="414338"/>
          </a:xfrm>
          <a:prstGeom prst="rect">
            <a:avLst/>
          </a:prstGeom>
          <a:noFill/>
          <a:ln/>
        </p:spPr>
        <p:txBody>
          <a:bodyPr wrap="squar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should respond quickly to status updates. Simulation results should be generated within acceptable time limits.</a:t>
            </a:r>
            <a:endParaRPr lang="en-US" sz="1200" dirty="0"/>
          </a:p>
        </p:txBody>
      </p:sp>
      <p:sp>
        <p:nvSpPr>
          <p:cNvPr id="21" name="Text 19"/>
          <p:cNvSpPr/>
          <p:nvPr/>
        </p:nvSpPr>
        <p:spPr>
          <a:xfrm>
            <a:off x="7510939" y="3382566"/>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Usability</a:t>
            </a:r>
            <a:endParaRPr lang="en-US" sz="1500" dirty="0"/>
          </a:p>
        </p:txBody>
      </p:sp>
      <p:sp>
        <p:nvSpPr>
          <p:cNvPr id="22" name="Text 20"/>
          <p:cNvSpPr/>
          <p:nvPr/>
        </p:nvSpPr>
        <p:spPr>
          <a:xfrm>
            <a:off x="7510939" y="3728204"/>
            <a:ext cx="6356032" cy="414338"/>
          </a:xfrm>
          <a:prstGeom prst="rect">
            <a:avLst/>
          </a:prstGeom>
          <a:noFill/>
          <a:ln/>
        </p:spPr>
        <p:txBody>
          <a:bodyPr wrap="squar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interface should be simple and user-friendly. The dashboard should be easy to understand for non-technical users.</a:t>
            </a:r>
            <a:endParaRPr lang="en-US" sz="1200" dirty="0"/>
          </a:p>
        </p:txBody>
      </p:sp>
      <p:sp>
        <p:nvSpPr>
          <p:cNvPr id="23" name="Text 21"/>
          <p:cNvSpPr/>
          <p:nvPr/>
        </p:nvSpPr>
        <p:spPr>
          <a:xfrm>
            <a:off x="7510939" y="4247317"/>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Reliability</a:t>
            </a:r>
            <a:endParaRPr lang="en-US" sz="1500" dirty="0"/>
          </a:p>
        </p:txBody>
      </p:sp>
      <p:sp>
        <p:nvSpPr>
          <p:cNvPr id="24" name="Text 22"/>
          <p:cNvSpPr/>
          <p:nvPr/>
        </p:nvSpPr>
        <p:spPr>
          <a:xfrm>
            <a:off x="7510939" y="4592955"/>
            <a:ext cx="6356032" cy="414338"/>
          </a:xfrm>
          <a:prstGeom prst="rect">
            <a:avLst/>
          </a:prstGeom>
          <a:noFill/>
          <a:ln/>
        </p:spPr>
        <p:txBody>
          <a:bodyPr wrap="squar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should accurately update table status without errors. The system should handle peak-hour data without crashing.</a:t>
            </a:r>
            <a:endParaRPr lang="en-US" sz="1200" dirty="0"/>
          </a:p>
        </p:txBody>
      </p:sp>
      <p:sp>
        <p:nvSpPr>
          <p:cNvPr id="25" name="Text 23"/>
          <p:cNvSpPr/>
          <p:nvPr/>
        </p:nvSpPr>
        <p:spPr>
          <a:xfrm>
            <a:off x="7510939" y="5112068"/>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Security</a:t>
            </a:r>
            <a:endParaRPr lang="en-US" sz="1500" dirty="0"/>
          </a:p>
        </p:txBody>
      </p:sp>
      <p:sp>
        <p:nvSpPr>
          <p:cNvPr id="26" name="Text 24"/>
          <p:cNvSpPr/>
          <p:nvPr/>
        </p:nvSpPr>
        <p:spPr>
          <a:xfrm>
            <a:off x="7510939" y="5457706"/>
            <a:ext cx="6356032" cy="207169"/>
          </a:xfrm>
          <a:prstGeom prst="rect">
            <a:avLst/>
          </a:prstGeom>
          <a:noFill/>
          <a:ln/>
        </p:spPr>
        <p:txBody>
          <a:bodyPr wrap="non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Only authorized users should access the system. Login credentials should be protected.</a:t>
            </a:r>
            <a:endParaRPr lang="en-US" sz="1200" dirty="0"/>
          </a:p>
        </p:txBody>
      </p:sp>
      <p:sp>
        <p:nvSpPr>
          <p:cNvPr id="27" name="Text 25"/>
          <p:cNvSpPr/>
          <p:nvPr/>
        </p:nvSpPr>
        <p:spPr>
          <a:xfrm>
            <a:off x="7510939" y="5769650"/>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Scalability</a:t>
            </a:r>
            <a:endParaRPr lang="en-US" sz="1500" dirty="0"/>
          </a:p>
        </p:txBody>
      </p:sp>
      <p:sp>
        <p:nvSpPr>
          <p:cNvPr id="28" name="Text 26"/>
          <p:cNvSpPr/>
          <p:nvPr/>
        </p:nvSpPr>
        <p:spPr>
          <a:xfrm>
            <a:off x="7510939" y="6115288"/>
            <a:ext cx="6356032" cy="414338"/>
          </a:xfrm>
          <a:prstGeom prst="rect">
            <a:avLst/>
          </a:prstGeom>
          <a:noFill/>
          <a:ln/>
        </p:spPr>
        <p:txBody>
          <a:bodyPr wrap="squar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should support increasing number of tables. The system should handle high customer traffic scenarios.</a:t>
            </a:r>
            <a:endParaRPr lang="en-US" sz="1200" dirty="0"/>
          </a:p>
        </p:txBody>
      </p:sp>
      <p:sp>
        <p:nvSpPr>
          <p:cNvPr id="29" name="Text 27"/>
          <p:cNvSpPr/>
          <p:nvPr/>
        </p:nvSpPr>
        <p:spPr>
          <a:xfrm>
            <a:off x="7510939" y="6634401"/>
            <a:ext cx="1927622" cy="240863"/>
          </a:xfrm>
          <a:prstGeom prst="rect">
            <a:avLst/>
          </a:prstGeom>
          <a:noFill/>
          <a:ln/>
        </p:spPr>
        <p:txBody>
          <a:bodyPr wrap="none" lIns="0" tIns="0" rIns="0" bIns="0" rtlCol="0" anchor="t"/>
          <a:lstStyle/>
          <a:p>
            <a:pPr algn="l" indent="0" marL="0">
              <a:lnSpc>
                <a:spcPts val="1850"/>
              </a:lnSpc>
              <a:buNone/>
            </a:pPr>
            <a:r>
              <a:rPr lang="en-US" sz="1500" dirty="0">
                <a:solidFill>
                  <a:srgbClr val="484237"/>
                </a:solidFill>
                <a:latin typeface="Gelasio Semi Bold" pitchFamily="34" charset="0"/>
                <a:ea typeface="Gelasio Semi Bold" pitchFamily="34" charset="-122"/>
                <a:cs typeface="Gelasio Semi Bold" pitchFamily="34" charset="-120"/>
              </a:rPr>
              <a:t>Maintainability</a:t>
            </a:r>
            <a:endParaRPr lang="en-US" sz="1500" dirty="0"/>
          </a:p>
        </p:txBody>
      </p:sp>
      <p:sp>
        <p:nvSpPr>
          <p:cNvPr id="30" name="Text 28"/>
          <p:cNvSpPr/>
          <p:nvPr/>
        </p:nvSpPr>
        <p:spPr>
          <a:xfrm>
            <a:off x="7510939" y="6980039"/>
            <a:ext cx="6356032" cy="207169"/>
          </a:xfrm>
          <a:prstGeom prst="rect">
            <a:avLst/>
          </a:prstGeom>
          <a:noFill/>
          <a:ln/>
        </p:spPr>
        <p:txBody>
          <a:bodyPr wrap="non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The system should be easy to update and modify.</a:t>
            </a:r>
            <a:endParaRPr lang="en-US" sz="1200" dirty="0"/>
          </a:p>
        </p:txBody>
      </p:sp>
      <p:sp>
        <p:nvSpPr>
          <p:cNvPr id="31" name="Text 29"/>
          <p:cNvSpPr/>
          <p:nvPr/>
        </p:nvSpPr>
        <p:spPr>
          <a:xfrm>
            <a:off x="7510939" y="7281505"/>
            <a:ext cx="6356032" cy="207169"/>
          </a:xfrm>
          <a:prstGeom prst="rect">
            <a:avLst/>
          </a:prstGeom>
          <a:noFill/>
          <a:ln/>
        </p:spPr>
        <p:txBody>
          <a:bodyPr wrap="none" lIns="0" tIns="0" rIns="0" bIns="0" rtlCol="0" anchor="t"/>
          <a:lstStyle/>
          <a:p>
            <a:pPr algn="l" indent="0" marL="0">
              <a:lnSpc>
                <a:spcPts val="1600"/>
              </a:lnSpc>
              <a:buNone/>
            </a:pPr>
            <a:r>
              <a:rPr lang="en-US" sz="1200" dirty="0">
                <a:solidFill>
                  <a:srgbClr val="746558"/>
                </a:solidFill>
                <a:latin typeface="Gelasio" pitchFamily="34" charset="0"/>
                <a:ea typeface="Gelasio" pitchFamily="34" charset="-122"/>
                <a:cs typeface="Gelasio" pitchFamily="34" charset="-120"/>
              </a:rPr>
              <a:t>Code structure should allow future enhancements.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662589"/>
            <a:ext cx="10161270" cy="708779"/>
          </a:xfrm>
          <a:prstGeom prst="rect">
            <a:avLst/>
          </a:prstGeom>
          <a:noFill/>
          <a:ln/>
        </p:spPr>
        <p:txBody>
          <a:bodyPr wrap="none" lIns="0" tIns="0" rIns="0" bIns="0" rtlCol="0" anchor="t"/>
          <a:lstStyle/>
          <a:p>
            <a:pPr algn="l" indent="0" marL="0">
              <a:lnSpc>
                <a:spcPts val="5550"/>
              </a:lnSpc>
              <a:buNone/>
            </a:pPr>
            <a:r>
              <a:rPr lang="en-US" sz="4450" dirty="0">
                <a:solidFill>
                  <a:srgbClr val="484237"/>
                </a:solidFill>
                <a:latin typeface="Gelasio Semi Bold" pitchFamily="34" charset="0"/>
                <a:ea typeface="Gelasio Semi Bold" pitchFamily="34" charset="-122"/>
                <a:cs typeface="Gelasio Semi Bold" pitchFamily="34" charset="-120"/>
              </a:rPr>
              <a:t>Hardware &amp; Software Requirements</a:t>
            </a:r>
            <a:endParaRPr lang="en-US" sz="4450" dirty="0"/>
          </a:p>
        </p:txBody>
      </p:sp>
      <p:sp>
        <p:nvSpPr>
          <p:cNvPr id="3" name="Text 1"/>
          <p:cNvSpPr/>
          <p:nvPr/>
        </p:nvSpPr>
        <p:spPr>
          <a:xfrm>
            <a:off x="793790" y="2938343"/>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484237"/>
                </a:solidFill>
                <a:latin typeface="Gelasio Semi Bold" pitchFamily="34" charset="0"/>
                <a:ea typeface="Gelasio Semi Bold" pitchFamily="34" charset="-122"/>
                <a:cs typeface="Gelasio Semi Bold" pitchFamily="34" charset="-120"/>
              </a:rPr>
              <a:t>Hardware</a:t>
            </a:r>
            <a:endParaRPr lang="en-US" sz="3550" dirty="0"/>
          </a:p>
        </p:txBody>
      </p:sp>
      <p:sp>
        <p:nvSpPr>
          <p:cNvPr id="4" name="Text 2"/>
          <p:cNvSpPr/>
          <p:nvPr/>
        </p:nvSpPr>
        <p:spPr>
          <a:xfrm>
            <a:off x="793790" y="3732133"/>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No specific hardware requirements beyond a standard modern computer.</a:t>
            </a:r>
            <a:endParaRPr lang="en-US" sz="1750" dirty="0"/>
          </a:p>
        </p:txBody>
      </p:sp>
      <p:sp>
        <p:nvSpPr>
          <p:cNvPr id="5" name="Text 3"/>
          <p:cNvSpPr/>
          <p:nvPr/>
        </p:nvSpPr>
        <p:spPr>
          <a:xfrm>
            <a:off x="7599521" y="2938343"/>
            <a:ext cx="5284232" cy="566976"/>
          </a:xfrm>
          <a:prstGeom prst="rect">
            <a:avLst/>
          </a:prstGeom>
          <a:noFill/>
          <a:ln/>
        </p:spPr>
        <p:txBody>
          <a:bodyPr wrap="none" lIns="0" tIns="0" rIns="0" bIns="0" rtlCol="0" anchor="t"/>
          <a:lstStyle/>
          <a:p>
            <a:pPr algn="l" indent="0" marL="0">
              <a:lnSpc>
                <a:spcPts val="4450"/>
              </a:lnSpc>
              <a:buNone/>
            </a:pPr>
            <a:r>
              <a:rPr lang="en-US" sz="3550" dirty="0">
                <a:solidFill>
                  <a:srgbClr val="484237"/>
                </a:solidFill>
                <a:latin typeface="Gelasio Semi Bold" pitchFamily="34" charset="0"/>
                <a:ea typeface="Gelasio Semi Bold" pitchFamily="34" charset="-122"/>
                <a:cs typeface="Gelasio Semi Bold" pitchFamily="34" charset="-120"/>
              </a:rPr>
              <a:t>Software Requirements</a:t>
            </a:r>
            <a:endParaRPr lang="en-US" sz="3550" dirty="0"/>
          </a:p>
        </p:txBody>
      </p:sp>
      <p:sp>
        <p:nvSpPr>
          <p:cNvPr id="6" name="Text 4"/>
          <p:cNvSpPr/>
          <p:nvPr/>
        </p:nvSpPr>
        <p:spPr>
          <a:xfrm>
            <a:off x="7599521" y="3732133"/>
            <a:ext cx="6244709" cy="362903"/>
          </a:xfrm>
          <a:prstGeom prst="rect">
            <a:avLst/>
          </a:prstGeom>
          <a:noFill/>
          <a:ln/>
        </p:spPr>
        <p:txBody>
          <a:bodyPr wrap="none" lIns="0" tIns="0" rIns="0" bIns="0" rtlCol="0" anchor="t"/>
          <a:lstStyle/>
          <a:p>
            <a:pPr algn="l" indent="0" marL="0">
              <a:lnSpc>
                <a:spcPts val="2850"/>
              </a:lnSpc>
              <a:buNone/>
            </a:pPr>
            <a:r>
              <a:rPr lang="en-US" sz="1750" b="1" dirty="0">
                <a:solidFill>
                  <a:srgbClr val="746558"/>
                </a:solidFill>
                <a:latin typeface="Gelasio" pitchFamily="34" charset="0"/>
                <a:ea typeface="Gelasio" pitchFamily="34" charset="-122"/>
                <a:cs typeface="Gelasio" pitchFamily="34" charset="-120"/>
              </a:rPr>
              <a:t>Operating System:</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Windows / macOS</a:t>
            </a:r>
            <a:endParaRPr lang="en-US" sz="1750" dirty="0"/>
          </a:p>
        </p:txBody>
      </p:sp>
      <p:sp>
        <p:nvSpPr>
          <p:cNvPr id="7" name="Text 5"/>
          <p:cNvSpPr/>
          <p:nvPr/>
        </p:nvSpPr>
        <p:spPr>
          <a:xfrm>
            <a:off x="7599521" y="4299109"/>
            <a:ext cx="6244709" cy="362903"/>
          </a:xfrm>
          <a:prstGeom prst="rect">
            <a:avLst/>
          </a:prstGeom>
          <a:noFill/>
          <a:ln/>
        </p:spPr>
        <p:txBody>
          <a:bodyPr wrap="none" lIns="0" tIns="0" rIns="0" bIns="0" rtlCol="0" anchor="t"/>
          <a:lstStyle/>
          <a:p>
            <a:pPr algn="l" indent="0" marL="0">
              <a:lnSpc>
                <a:spcPts val="2850"/>
              </a:lnSpc>
              <a:buNone/>
            </a:pPr>
            <a:r>
              <a:rPr lang="en-US" sz="1750" b="1" dirty="0">
                <a:solidFill>
                  <a:srgbClr val="746558"/>
                </a:solidFill>
                <a:latin typeface="Gelasio" pitchFamily="34" charset="0"/>
                <a:ea typeface="Gelasio" pitchFamily="34" charset="-122"/>
                <a:cs typeface="Gelasio" pitchFamily="34" charset="-120"/>
              </a:rPr>
              <a:t>Frontend:</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HTML, CSS, JavaScript</a:t>
            </a:r>
            <a:endParaRPr lang="en-US" sz="1750" dirty="0"/>
          </a:p>
        </p:txBody>
      </p:sp>
      <p:sp>
        <p:nvSpPr>
          <p:cNvPr id="8" name="Text 6"/>
          <p:cNvSpPr/>
          <p:nvPr/>
        </p:nvSpPr>
        <p:spPr>
          <a:xfrm>
            <a:off x="7599521" y="4866084"/>
            <a:ext cx="6244709" cy="362903"/>
          </a:xfrm>
          <a:prstGeom prst="rect">
            <a:avLst/>
          </a:prstGeom>
          <a:noFill/>
          <a:ln/>
        </p:spPr>
        <p:txBody>
          <a:bodyPr wrap="none" lIns="0" tIns="0" rIns="0" bIns="0" rtlCol="0" anchor="t"/>
          <a:lstStyle/>
          <a:p>
            <a:pPr algn="l" indent="0" marL="0">
              <a:lnSpc>
                <a:spcPts val="2850"/>
              </a:lnSpc>
              <a:buNone/>
            </a:pPr>
            <a:r>
              <a:rPr lang="en-US" sz="1750" b="1" dirty="0">
                <a:solidFill>
                  <a:srgbClr val="746558"/>
                </a:solidFill>
                <a:latin typeface="Gelasio" pitchFamily="34" charset="0"/>
                <a:ea typeface="Gelasio" pitchFamily="34" charset="-122"/>
                <a:cs typeface="Gelasio" pitchFamily="34" charset="-120"/>
              </a:rPr>
              <a:t>Backend :</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Python (FastAPI)</a:t>
            </a:r>
            <a:endParaRPr lang="en-US" sz="1750" dirty="0"/>
          </a:p>
        </p:txBody>
      </p:sp>
      <p:sp>
        <p:nvSpPr>
          <p:cNvPr id="9" name="Text 7"/>
          <p:cNvSpPr/>
          <p:nvPr/>
        </p:nvSpPr>
        <p:spPr>
          <a:xfrm>
            <a:off x="7599521" y="5433060"/>
            <a:ext cx="6244709" cy="362903"/>
          </a:xfrm>
          <a:prstGeom prst="rect">
            <a:avLst/>
          </a:prstGeom>
          <a:noFill/>
          <a:ln/>
        </p:spPr>
        <p:txBody>
          <a:bodyPr wrap="none" lIns="0" tIns="0" rIns="0" bIns="0" rtlCol="0" anchor="t"/>
          <a:lstStyle/>
          <a:p>
            <a:pPr algn="l" indent="0" marL="0">
              <a:lnSpc>
                <a:spcPts val="2850"/>
              </a:lnSpc>
              <a:buNone/>
            </a:pPr>
            <a:r>
              <a:rPr lang="en-US" sz="1750" b="1" dirty="0">
                <a:solidFill>
                  <a:srgbClr val="746558"/>
                </a:solidFill>
                <a:latin typeface="Gelasio" pitchFamily="34" charset="0"/>
                <a:ea typeface="Gelasio" pitchFamily="34" charset="-122"/>
                <a:cs typeface="Gelasio" pitchFamily="34" charset="-120"/>
              </a:rPr>
              <a:t>Browser:</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Google Chrome or any modern browser</a:t>
            </a:r>
            <a:endParaRPr lang="en-US" sz="1750" dirty="0"/>
          </a:p>
        </p:txBody>
      </p:sp>
      <p:sp>
        <p:nvSpPr>
          <p:cNvPr id="10" name="Text 8"/>
          <p:cNvSpPr/>
          <p:nvPr/>
        </p:nvSpPr>
        <p:spPr>
          <a:xfrm>
            <a:off x="7599521" y="6000036"/>
            <a:ext cx="6244709" cy="362903"/>
          </a:xfrm>
          <a:prstGeom prst="rect">
            <a:avLst/>
          </a:prstGeom>
          <a:noFill/>
          <a:ln/>
        </p:spPr>
        <p:txBody>
          <a:bodyPr wrap="none" lIns="0" tIns="0" rIns="0" bIns="0" rtlCol="0" anchor="t"/>
          <a:lstStyle/>
          <a:p>
            <a:pPr algn="l" indent="0" marL="0">
              <a:lnSpc>
                <a:spcPts val="2850"/>
              </a:lnSpc>
              <a:buNone/>
            </a:pPr>
            <a:r>
              <a:rPr lang="en-US" sz="1750" b="1" dirty="0">
                <a:solidFill>
                  <a:srgbClr val="746558"/>
                </a:solidFill>
                <a:latin typeface="Gelasio" pitchFamily="34" charset="0"/>
                <a:ea typeface="Gelasio" pitchFamily="34" charset="-122"/>
                <a:cs typeface="Gelasio" pitchFamily="34" charset="-120"/>
              </a:rPr>
              <a:t>Database:</a:t>
            </a:r>
            <a:pPr algn="l" indent="0" marL="0">
              <a:lnSpc>
                <a:spcPts val="2850"/>
              </a:lnSpc>
              <a:buNone/>
            </a:pPr>
            <a:r>
              <a:rPr lang="en-US" sz="1750" dirty="0">
                <a:solidFill>
                  <a:srgbClr val="746558"/>
                </a:solidFill>
                <a:latin typeface="Gelasio" pitchFamily="34" charset="0"/>
                <a:ea typeface="Gelasio" pitchFamily="34" charset="-122"/>
                <a:cs typeface="Gelasio" pitchFamily="34" charset="-120"/>
              </a:rPr>
              <a:t> PostGRE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2026-02-19T04:35:11Z</dcterms:created>
  <dcterms:modified xsi:type="dcterms:W3CDTF">2026-02-19T04:35:11Z</dcterms:modified>
</cp:coreProperties>
</file>